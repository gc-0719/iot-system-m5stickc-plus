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Memory (MB)</c:v>
                </c:pt>
              </c:strCache>
            </c:strRef>
          </c:tx>
          <c:spPr>
            <a:solidFill>
              <a:srgbClr val="1F3864"/>
            </a:solidFill>
            <a:effectLst/>
          </c:spPr>
          <c:invertIfNegative val="0"/>
          <c:dLbls>
            <c:numFmt formatCode="#,##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InfluxDB</c:v>
                  </c:pt>
                  <c:pt idx="1">
                    <c:v>MySQL</c:v>
                  </c:pt>
                  <c:pt idx="2">
                    <c:v>Grafana</c:v>
                  </c:pt>
                  <c:pt idx="3">
                    <c:v>Forwarder</c:v>
                  </c:pt>
                  <c:pt idx="4">
                    <c:v>Mosquitto</c:v>
                  </c:pt>
                  <c:pt idx="5">
                    <c:v>chrony</c:v>
                  </c:pt>
                </c:lvl>
              </c:multiLvlStrCache>
            </c:multiLvlStrRef>
          </c:cat>
          <c:val>
            <c:numRef>
              <c:f>Sheet1!$B$2:$B$7</c:f>
              <c:numCache>
                <c:formatCode>General</c:formatCode>
                <c:ptCount val="6"/>
                <c:pt idx="0">
                  <c:v>286.8</c:v>
                </c:pt>
                <c:pt idx="1">
                  <c:v>185.7</c:v>
                </c:pt>
                <c:pt idx="2">
                  <c:v>63</c:v>
                </c:pt>
                <c:pt idx="3">
                  <c:v>27.6</c:v>
                </c:pt>
                <c:pt idx="4">
                  <c:v>6.7</c:v>
                </c:pt>
                <c:pt idx="5">
                  <c:v>4.6</c:v>
                </c:pt>
              </c:numCache>
            </c:numRef>
          </c:val>
        </c:ser>
        <c:dLbls>
          <c:numFmt formatCode="#,##0" sourceLinked="0"/>
          <c:txPr>
            <a:bodyPr/>
            <a:lstStyle/>
            <a:p>
              <a:pPr>
                <a:defRPr b="0" i="0" strike="noStrike" sz="1100" u="none">
                  <a:solidFill>
                    <a:srgbClr val="1A1A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max val="34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microcontroller, a small server, and a dashboard showing real sensor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sensors are real, not simulated — gravity and sound are genuinely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then the dashed line: the server is also the time source for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Clearest example of edge processing: do the work on the device, send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decisions matter only at scale — which is why they are made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Wrong clocks do not error — they make data invisible, landing outside the window you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scripted so the whole server can be rebuilt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Medians over a steady period, repeated three times, not single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HW1 and sets up HW2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requirements: TLS, the AI framework, Nuitka compilation, and TPM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debugging story: the ESP32 matched the server's IP against the wrong kind of certificate name; fixed by adding the IP in the expected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framework the reference design reserved a place for; built in HW2. Config-driven: changing the YAML changes the output with no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Nuitka for unreadable; TPM-sealed AES key for uncopyable. Copy-protection proven with two TPM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HW2 requirements complete and verified on the real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2194560"/>
            <a:ext cx="10634472" cy="822960"/>
          </a:xfrm>
          <a:prstGeom prst="rect">
            <a:avLst/>
          </a:prstGeom>
          <a:noFill/>
          <a:ln/>
        </p:spPr>
        <p:txBody>
          <a:bodyPr wrap="square" rtlCol="0" anchor="ctr"/>
          <a:lstStyle/>
          <a:p>
            <a:pPr indent="0" marL="0">
              <a:buNone/>
            </a:pPr>
            <a:r>
              <a:rPr lang="en-US" sz="4000" b="1" dirty="0">
                <a:solidFill>
                  <a:srgbClr val="1F3864"/>
                </a:solidFill>
                <a:latin typeface="Calibri" pitchFamily="34" charset="0"/>
                <a:ea typeface="Calibri" pitchFamily="34" charset="-122"/>
                <a:cs typeface="Calibri" pitchFamily="34" charset="-120"/>
              </a:rPr>
              <a:t>Design and Demonstration of an IoT System</a:t>
            </a:r>
            <a:endParaRPr lang="en-US" sz="4000" dirty="0"/>
          </a:p>
        </p:txBody>
      </p:sp>
      <p:sp>
        <p:nvSpPr>
          <p:cNvPr id="3" name="Text 1"/>
          <p:cNvSpPr txBox="1"/>
          <p:nvPr/>
        </p:nvSpPr>
        <p:spPr>
          <a:xfrm>
            <a:off x="777240" y="3063240"/>
            <a:ext cx="10634472" cy="457200"/>
          </a:xfrm>
          <a:prstGeom prst="rect">
            <a:avLst/>
          </a:prstGeom>
          <a:noFill/>
          <a:ln/>
        </p:spPr>
        <p:txBody>
          <a:bodyPr wrap="square" rtlCol="0" anchor="ctr"/>
          <a:lstStyle/>
          <a:p>
            <a:pPr indent="0" marL="0">
              <a:buNone/>
            </a:pPr>
            <a:r>
              <a:rPr lang="en-US" sz="1800" dirty="0">
                <a:solidFill>
                  <a:srgbClr val="595959"/>
                </a:solidFill>
                <a:latin typeface="Calibri" pitchFamily="34" charset="0"/>
                <a:ea typeface="Calibri" pitchFamily="34" charset="-122"/>
                <a:cs typeface="Calibri" pitchFamily="34" charset="-120"/>
              </a:rPr>
              <a:t>Streaming motion and sound data from a microcontroller to a live dashboard</a:t>
            </a:r>
            <a:endParaRPr lang="en-US" sz="1800" dirty="0"/>
          </a:p>
        </p:txBody>
      </p:sp>
      <p:sp>
        <p:nvSpPr>
          <p:cNvPr id="4" name="Shape 2"/>
          <p:cNvSpPr/>
          <p:nvPr/>
        </p:nvSpPr>
        <p:spPr>
          <a:xfrm>
            <a:off x="777240" y="3749040"/>
            <a:ext cx="4114800" cy="0"/>
          </a:xfrm>
          <a:prstGeom prst="line">
            <a:avLst/>
          </a:prstGeom>
          <a:noFill/>
          <a:ln w="12700">
            <a:solidFill>
              <a:srgbClr val="BFBFBF"/>
            </a:solidFill>
            <a:prstDash val="solid"/>
          </a:ln>
        </p:spPr>
      </p:sp>
      <p:sp>
        <p:nvSpPr>
          <p:cNvPr id="5" name="Text 3"/>
          <p:cNvSpPr txBox="1"/>
          <p:nvPr/>
        </p:nvSpPr>
        <p:spPr>
          <a:xfrm>
            <a:off x="777240" y="3977640"/>
            <a:ext cx="7315200" cy="32004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CSEE 8300 — Principles of Cyber-Physical Systems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What I built</a:t>
            </a:r>
            <a:endParaRPr lang="en-US" sz="3200" dirty="0"/>
          </a:p>
        </p:txBody>
      </p:sp>
      <p:sp>
        <p:nvSpPr>
          <p:cNvPr id="3" name="Text 1"/>
          <p:cNvSpPr txBox="1"/>
          <p:nvPr/>
        </p:nvSpPr>
        <p:spPr>
          <a:xfrm>
            <a:off x="777240" y="1463040"/>
            <a:ext cx="10634472" cy="2377440"/>
          </a:xfrm>
          <a:prstGeom prst="rect">
            <a:avLst/>
          </a:prstGeom>
          <a:noFill/>
          <a:ln/>
        </p:spPr>
        <p:txBody>
          <a:bodyPr wrap="square" rtlCol="0" anchor="ctr"/>
          <a:lstStyle/>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An IoT system that collects data from real sensors and displays it live</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A M5StickC PLUS microcontroller samples motion and sound 50 times a second</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Data travels over MQTT to a Ubuntu server, is stored in a time-series database, and is shown in Grafana</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I wrote the device firmware, the program that moves data into the database, and the scripts that build the server</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About 1,700 lines of code in C++, Python and shell</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System architecture</a:t>
            </a:r>
            <a:endParaRPr lang="en-US" sz="3200" dirty="0"/>
          </a:p>
        </p:txBody>
      </p:sp>
      <p:sp>
        <p:nvSpPr>
          <p:cNvPr id="3" name="Shape 1"/>
          <p:cNvSpPr/>
          <p:nvPr/>
        </p:nvSpPr>
        <p:spPr>
          <a:xfrm>
            <a:off x="777240" y="2194560"/>
            <a:ext cx="1874520" cy="868680"/>
          </a:xfrm>
          <a:prstGeom prst="rect">
            <a:avLst/>
          </a:prstGeom>
          <a:solidFill>
            <a:srgbClr val="FFFFFF"/>
          </a:solidFill>
          <a:ln w="25400">
            <a:solidFill>
              <a:srgbClr val="C55A11"/>
            </a:solidFill>
            <a:prstDash val="solid"/>
          </a:ln>
        </p:spPr>
      </p:sp>
      <p:sp>
        <p:nvSpPr>
          <p:cNvPr id="4" name="Text 2"/>
          <p:cNvSpPr txBox="1"/>
          <p:nvPr/>
        </p:nvSpPr>
        <p:spPr>
          <a:xfrm>
            <a:off x="777240" y="2340864"/>
            <a:ext cx="187452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M5StickC PLUS</a:t>
            </a:r>
            <a:endParaRPr lang="en-US" sz="1400" dirty="0"/>
          </a:p>
        </p:txBody>
      </p:sp>
      <p:sp>
        <p:nvSpPr>
          <p:cNvPr id="5" name="Text 3"/>
          <p:cNvSpPr txBox="1"/>
          <p:nvPr/>
        </p:nvSpPr>
        <p:spPr>
          <a:xfrm>
            <a:off x="777240" y="2670048"/>
            <a:ext cx="187452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2 sensors</a:t>
            </a:r>
            <a:endParaRPr lang="en-US" sz="1100" dirty="0"/>
          </a:p>
        </p:txBody>
      </p:sp>
      <p:sp>
        <p:nvSpPr>
          <p:cNvPr id="6" name="Shape 4"/>
          <p:cNvSpPr/>
          <p:nvPr/>
        </p:nvSpPr>
        <p:spPr>
          <a:xfrm>
            <a:off x="2724912" y="2633472"/>
            <a:ext cx="356616" cy="0"/>
          </a:xfrm>
          <a:prstGeom prst="line">
            <a:avLst/>
          </a:prstGeom>
          <a:noFill/>
          <a:ln w="15875">
            <a:solidFill>
              <a:srgbClr val="404040"/>
            </a:solidFill>
            <a:prstDash val="solid"/>
            <a:tailEnd type="triangle"/>
          </a:ln>
        </p:spPr>
      </p:sp>
      <p:sp>
        <p:nvSpPr>
          <p:cNvPr id="7" name="Shape 5"/>
          <p:cNvSpPr/>
          <p:nvPr/>
        </p:nvSpPr>
        <p:spPr>
          <a:xfrm>
            <a:off x="3154680" y="2194560"/>
            <a:ext cx="1874520" cy="868680"/>
          </a:xfrm>
          <a:prstGeom prst="rect">
            <a:avLst/>
          </a:prstGeom>
          <a:solidFill>
            <a:srgbClr val="FFFFFF"/>
          </a:solidFill>
          <a:ln w="12700">
            <a:solidFill>
              <a:srgbClr val="404040"/>
            </a:solidFill>
            <a:prstDash val="solid"/>
          </a:ln>
        </p:spPr>
      </p:sp>
      <p:sp>
        <p:nvSpPr>
          <p:cNvPr id="8" name="Text 6"/>
          <p:cNvSpPr txBox="1"/>
          <p:nvPr/>
        </p:nvSpPr>
        <p:spPr>
          <a:xfrm>
            <a:off x="3154680" y="2340864"/>
            <a:ext cx="187452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MQTT broker</a:t>
            </a:r>
            <a:endParaRPr lang="en-US" sz="1400" dirty="0"/>
          </a:p>
        </p:txBody>
      </p:sp>
      <p:sp>
        <p:nvSpPr>
          <p:cNvPr id="9" name="Text 7"/>
          <p:cNvSpPr txBox="1"/>
          <p:nvPr/>
        </p:nvSpPr>
        <p:spPr>
          <a:xfrm>
            <a:off x="3154680" y="2670048"/>
            <a:ext cx="187452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Mosquitto</a:t>
            </a:r>
            <a:endParaRPr lang="en-US" sz="1100" dirty="0"/>
          </a:p>
        </p:txBody>
      </p:sp>
      <p:sp>
        <p:nvSpPr>
          <p:cNvPr id="10" name="Shape 8"/>
          <p:cNvSpPr/>
          <p:nvPr/>
        </p:nvSpPr>
        <p:spPr>
          <a:xfrm>
            <a:off x="5102352" y="2633472"/>
            <a:ext cx="356616" cy="0"/>
          </a:xfrm>
          <a:prstGeom prst="line">
            <a:avLst/>
          </a:prstGeom>
          <a:noFill/>
          <a:ln w="15875">
            <a:solidFill>
              <a:srgbClr val="404040"/>
            </a:solidFill>
            <a:prstDash val="solid"/>
            <a:tailEnd type="triangle"/>
          </a:ln>
        </p:spPr>
      </p:sp>
      <p:sp>
        <p:nvSpPr>
          <p:cNvPr id="11" name="Shape 9"/>
          <p:cNvSpPr/>
          <p:nvPr/>
        </p:nvSpPr>
        <p:spPr>
          <a:xfrm>
            <a:off x="5532120" y="2194560"/>
            <a:ext cx="1874520" cy="868680"/>
          </a:xfrm>
          <a:prstGeom prst="rect">
            <a:avLst/>
          </a:prstGeom>
          <a:solidFill>
            <a:srgbClr val="FFFFFF"/>
          </a:solidFill>
          <a:ln w="12700">
            <a:solidFill>
              <a:srgbClr val="404040"/>
            </a:solidFill>
            <a:prstDash val="solid"/>
          </a:ln>
        </p:spPr>
      </p:sp>
      <p:sp>
        <p:nvSpPr>
          <p:cNvPr id="12" name="Text 10"/>
          <p:cNvSpPr txBox="1"/>
          <p:nvPr/>
        </p:nvSpPr>
        <p:spPr>
          <a:xfrm>
            <a:off x="5532120" y="2340864"/>
            <a:ext cx="187452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Forwarder</a:t>
            </a:r>
            <a:endParaRPr lang="en-US" sz="1400" dirty="0"/>
          </a:p>
        </p:txBody>
      </p:sp>
      <p:sp>
        <p:nvSpPr>
          <p:cNvPr id="13" name="Text 11"/>
          <p:cNvSpPr txBox="1"/>
          <p:nvPr/>
        </p:nvSpPr>
        <p:spPr>
          <a:xfrm>
            <a:off x="5532120" y="2670048"/>
            <a:ext cx="187452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Python</a:t>
            </a:r>
            <a:endParaRPr lang="en-US" sz="1100" dirty="0"/>
          </a:p>
        </p:txBody>
      </p:sp>
      <p:sp>
        <p:nvSpPr>
          <p:cNvPr id="14" name="Shape 12"/>
          <p:cNvSpPr/>
          <p:nvPr/>
        </p:nvSpPr>
        <p:spPr>
          <a:xfrm>
            <a:off x="7479792" y="2633472"/>
            <a:ext cx="356616" cy="0"/>
          </a:xfrm>
          <a:prstGeom prst="line">
            <a:avLst/>
          </a:prstGeom>
          <a:noFill/>
          <a:ln w="15875">
            <a:solidFill>
              <a:srgbClr val="404040"/>
            </a:solidFill>
            <a:prstDash val="solid"/>
            <a:tailEnd type="triangle"/>
          </a:ln>
        </p:spPr>
      </p:sp>
      <p:sp>
        <p:nvSpPr>
          <p:cNvPr id="15" name="Shape 13"/>
          <p:cNvSpPr/>
          <p:nvPr/>
        </p:nvSpPr>
        <p:spPr>
          <a:xfrm>
            <a:off x="7909560" y="2194560"/>
            <a:ext cx="1874520" cy="868680"/>
          </a:xfrm>
          <a:prstGeom prst="rect">
            <a:avLst/>
          </a:prstGeom>
          <a:solidFill>
            <a:srgbClr val="FFFFFF"/>
          </a:solidFill>
          <a:ln w="12700">
            <a:solidFill>
              <a:srgbClr val="404040"/>
            </a:solidFill>
            <a:prstDash val="solid"/>
          </a:ln>
        </p:spPr>
      </p:sp>
      <p:sp>
        <p:nvSpPr>
          <p:cNvPr id="16" name="Text 14"/>
          <p:cNvSpPr txBox="1"/>
          <p:nvPr/>
        </p:nvSpPr>
        <p:spPr>
          <a:xfrm>
            <a:off x="7909560" y="2340864"/>
            <a:ext cx="187452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InfluxDB</a:t>
            </a:r>
            <a:endParaRPr lang="en-US" sz="1400" dirty="0"/>
          </a:p>
        </p:txBody>
      </p:sp>
      <p:sp>
        <p:nvSpPr>
          <p:cNvPr id="17" name="Text 15"/>
          <p:cNvSpPr txBox="1"/>
          <p:nvPr/>
        </p:nvSpPr>
        <p:spPr>
          <a:xfrm>
            <a:off x="7909560" y="2670048"/>
            <a:ext cx="187452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storage</a:t>
            </a:r>
            <a:endParaRPr lang="en-US" sz="1100" dirty="0"/>
          </a:p>
        </p:txBody>
      </p:sp>
      <p:sp>
        <p:nvSpPr>
          <p:cNvPr id="18" name="Shape 16"/>
          <p:cNvSpPr/>
          <p:nvPr/>
        </p:nvSpPr>
        <p:spPr>
          <a:xfrm>
            <a:off x="9857232" y="2633472"/>
            <a:ext cx="356616" cy="0"/>
          </a:xfrm>
          <a:prstGeom prst="line">
            <a:avLst/>
          </a:prstGeom>
          <a:noFill/>
          <a:ln w="15875">
            <a:solidFill>
              <a:srgbClr val="404040"/>
            </a:solidFill>
            <a:prstDash val="solid"/>
            <a:tailEnd type="triangle"/>
          </a:ln>
        </p:spPr>
      </p:sp>
      <p:sp>
        <p:nvSpPr>
          <p:cNvPr id="19" name="Shape 17"/>
          <p:cNvSpPr/>
          <p:nvPr/>
        </p:nvSpPr>
        <p:spPr>
          <a:xfrm>
            <a:off x="10287000" y="2194560"/>
            <a:ext cx="1874520" cy="868680"/>
          </a:xfrm>
          <a:prstGeom prst="rect">
            <a:avLst/>
          </a:prstGeom>
          <a:solidFill>
            <a:srgbClr val="FFFFFF"/>
          </a:solidFill>
          <a:ln w="12700">
            <a:solidFill>
              <a:srgbClr val="404040"/>
            </a:solidFill>
            <a:prstDash val="solid"/>
          </a:ln>
        </p:spPr>
      </p:sp>
      <p:sp>
        <p:nvSpPr>
          <p:cNvPr id="20" name="Text 18"/>
          <p:cNvSpPr txBox="1"/>
          <p:nvPr/>
        </p:nvSpPr>
        <p:spPr>
          <a:xfrm>
            <a:off x="10287000" y="2340864"/>
            <a:ext cx="187452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Grafana</a:t>
            </a:r>
            <a:endParaRPr lang="en-US" sz="1400" dirty="0"/>
          </a:p>
        </p:txBody>
      </p:sp>
      <p:sp>
        <p:nvSpPr>
          <p:cNvPr id="21" name="Text 19"/>
          <p:cNvSpPr txBox="1"/>
          <p:nvPr/>
        </p:nvSpPr>
        <p:spPr>
          <a:xfrm>
            <a:off x="10287000" y="2670048"/>
            <a:ext cx="187452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dashboard</a:t>
            </a:r>
            <a:endParaRPr lang="en-US" sz="1100" dirty="0"/>
          </a:p>
        </p:txBody>
      </p:sp>
      <p:sp>
        <p:nvSpPr>
          <p:cNvPr id="22" name="Shape 20"/>
          <p:cNvSpPr/>
          <p:nvPr/>
        </p:nvSpPr>
        <p:spPr>
          <a:xfrm>
            <a:off x="1714500" y="3063240"/>
            <a:ext cx="0" cy="685800"/>
          </a:xfrm>
          <a:prstGeom prst="line">
            <a:avLst/>
          </a:prstGeom>
          <a:noFill/>
          <a:ln w="15875">
            <a:solidFill>
              <a:srgbClr val="C55A11"/>
            </a:solidFill>
            <a:prstDash val="dash"/>
          </a:ln>
        </p:spPr>
      </p:sp>
      <p:sp>
        <p:nvSpPr>
          <p:cNvPr id="23" name="Shape 21"/>
          <p:cNvSpPr/>
          <p:nvPr/>
        </p:nvSpPr>
        <p:spPr>
          <a:xfrm>
            <a:off x="1714500" y="3749040"/>
            <a:ext cx="4846320" cy="0"/>
          </a:xfrm>
          <a:prstGeom prst="line">
            <a:avLst/>
          </a:prstGeom>
          <a:noFill/>
          <a:ln w="15875">
            <a:solidFill>
              <a:srgbClr val="C55A11"/>
            </a:solidFill>
            <a:prstDash val="dash"/>
            <a:headEnd type="triangle"/>
          </a:ln>
        </p:spPr>
      </p:sp>
      <p:sp>
        <p:nvSpPr>
          <p:cNvPr id="24" name="Shape 22"/>
          <p:cNvSpPr/>
          <p:nvPr/>
        </p:nvSpPr>
        <p:spPr>
          <a:xfrm>
            <a:off x="6560820" y="3063240"/>
            <a:ext cx="0" cy="685800"/>
          </a:xfrm>
          <a:prstGeom prst="line">
            <a:avLst/>
          </a:prstGeom>
          <a:noFill/>
          <a:ln w="15875">
            <a:solidFill>
              <a:srgbClr val="C55A11"/>
            </a:solidFill>
            <a:prstDash val="dash"/>
          </a:ln>
        </p:spPr>
      </p:sp>
      <p:sp>
        <p:nvSpPr>
          <p:cNvPr id="25" name="Text 23"/>
          <p:cNvSpPr txBox="1"/>
          <p:nvPr/>
        </p:nvSpPr>
        <p:spPr>
          <a:xfrm>
            <a:off x="2240280" y="3794760"/>
            <a:ext cx="3657600" cy="274320"/>
          </a:xfrm>
          <a:prstGeom prst="rect">
            <a:avLst/>
          </a:prstGeom>
          <a:noFill/>
          <a:ln/>
        </p:spPr>
        <p:txBody>
          <a:bodyPr wrap="square" rtlCol="0" anchor="ctr"/>
          <a:lstStyle/>
          <a:p>
            <a:pPr indent="0" marL="0">
              <a:buNone/>
            </a:pPr>
            <a:r>
              <a:rPr lang="en-US" sz="1200" i="1" dirty="0">
                <a:solidFill>
                  <a:srgbClr val="C55A11"/>
                </a:solidFill>
                <a:latin typeface="Calibri" pitchFamily="34" charset="0"/>
                <a:ea typeface="Calibri" pitchFamily="34" charset="-122"/>
                <a:cs typeface="Calibri" pitchFamily="34" charset="-120"/>
              </a:rPr>
              <a:t>clock synchronisation (NTP)</a:t>
            </a:r>
            <a:endParaRPr lang="en-US" sz="1200" dirty="0"/>
          </a:p>
        </p:txBody>
      </p:sp>
      <p:sp>
        <p:nvSpPr>
          <p:cNvPr id="26" name="Text 24"/>
          <p:cNvSpPr txBox="1"/>
          <p:nvPr/>
        </p:nvSpPr>
        <p:spPr>
          <a:xfrm>
            <a:off x="777240" y="4389120"/>
            <a:ext cx="10634472" cy="128016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The sensor gets its clock from the same server that stores its data</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Each message carries one second of samples rather than one sample at a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Hardware and sensors</a:t>
            </a:r>
            <a:endParaRPr lang="en-US" sz="3200" dirty="0"/>
          </a:p>
        </p:txBody>
      </p:sp>
      <p:sp>
        <p:nvSpPr>
          <p:cNvPr id="3" name="Text 1"/>
          <p:cNvSpPr txBox="1"/>
          <p:nvPr/>
        </p:nvSpPr>
        <p:spPr>
          <a:xfrm>
            <a:off x="777240" y="1463040"/>
            <a:ext cx="5029200" cy="36576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M5StickC PLUS</a:t>
            </a:r>
            <a:endParaRPr lang="en-US" sz="2000" dirty="0"/>
          </a:p>
        </p:txBody>
      </p:sp>
      <p:sp>
        <p:nvSpPr>
          <p:cNvPr id="4" name="Text 2"/>
          <p:cNvSpPr txBox="1"/>
          <p:nvPr/>
        </p:nvSpPr>
        <p:spPr>
          <a:xfrm>
            <a:off x="777240" y="1874520"/>
            <a:ext cx="5029200" cy="164592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ESP32 processor, WiFi (2.4 GHz only)</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1.14 inch display, 120 mAh battery</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Costs about $20</a:t>
            </a:r>
            <a:endParaRPr lang="en-US" sz="1600" dirty="0"/>
          </a:p>
        </p:txBody>
      </p:sp>
      <p:sp>
        <p:nvSpPr>
          <p:cNvPr id="5" name="Text 3"/>
          <p:cNvSpPr txBox="1"/>
          <p:nvPr/>
        </p:nvSpPr>
        <p:spPr>
          <a:xfrm>
            <a:off x="6492240" y="1463040"/>
            <a:ext cx="4937760" cy="36576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Two sensors on the board</a:t>
            </a:r>
            <a:endParaRPr lang="en-US" sz="2000" dirty="0"/>
          </a:p>
        </p:txBody>
      </p:sp>
      <p:sp>
        <p:nvSpPr>
          <p:cNvPr id="6" name="Text 4"/>
          <p:cNvSpPr txBox="1"/>
          <p:nvPr/>
        </p:nvSpPr>
        <p:spPr>
          <a:xfrm>
            <a:off x="6492240" y="1874520"/>
            <a:ext cx="4937760" cy="128016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MPU6886 — accelerometer and gyroscope, sampled at 50 Hz</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SPM1423 — microphone, sampled at 16,000 Hz</a:t>
            </a:r>
            <a:endParaRPr lang="en-US" sz="1600" dirty="0"/>
          </a:p>
        </p:txBody>
      </p:sp>
      <p:sp>
        <p:nvSpPr>
          <p:cNvPr id="7" name="Shape 5"/>
          <p:cNvSpPr/>
          <p:nvPr/>
        </p:nvSpPr>
        <p:spPr>
          <a:xfrm>
            <a:off x="777240" y="3566160"/>
            <a:ext cx="10634472" cy="0"/>
          </a:xfrm>
          <a:prstGeom prst="line">
            <a:avLst/>
          </a:prstGeom>
          <a:noFill/>
          <a:ln w="12700">
            <a:solidFill>
              <a:srgbClr val="BFBFBF"/>
            </a:solidFill>
            <a:prstDash val="solid"/>
          </a:ln>
        </p:spPr>
      </p:sp>
      <p:sp>
        <p:nvSpPr>
          <p:cNvPr id="8" name="Text 6"/>
          <p:cNvSpPr txBox="1"/>
          <p:nvPr/>
        </p:nvSpPr>
        <p:spPr>
          <a:xfrm>
            <a:off x="777240" y="3794760"/>
            <a:ext cx="10634472" cy="914400"/>
          </a:xfrm>
          <a:prstGeom prst="rect">
            <a:avLst/>
          </a:prstGeom>
          <a:noFill/>
          <a:ln/>
        </p:spPr>
        <p:txBody>
          <a:bodyPr wrap="square" rtlCol="0" anchor="ctr"/>
          <a:lstStyle/>
          <a:p>
            <a:pPr indent="0" marL="0">
              <a:lnSpc>
                <a:spcPts val="2400"/>
              </a:lnSpc>
              <a:buNone/>
            </a:pPr>
            <a:r>
              <a:rPr lang="en-US" sz="1600" dirty="0">
                <a:solidFill>
                  <a:srgbClr val="1A1A1A"/>
                </a:solidFill>
                <a:latin typeface="Calibri" pitchFamily="34" charset="0"/>
                <a:ea typeface="Calibri" pitchFamily="34" charset="-122"/>
                <a:cs typeface="Calibri" pitchFamily="34" charset="-120"/>
              </a:rPr>
              <a:t>The microphone runs 320 times faster than the motion sensor. Sending that much raw audio would overwhelm the network and the database, so the board calculates the sound level itself and sends only that figure, 50 times a second — the same rate as the motion data.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Two design decisions</a:t>
            </a:r>
            <a:endParaRPr lang="en-US" sz="3200" dirty="0"/>
          </a:p>
        </p:txBody>
      </p:sp>
      <p:sp>
        <p:nvSpPr>
          <p:cNvPr id="3" name="Text 1"/>
          <p:cNvSpPr txBox="1"/>
          <p:nvPr/>
        </p:nvSpPr>
        <p:spPr>
          <a:xfrm>
            <a:off x="777240" y="1463040"/>
            <a:ext cx="10634472" cy="365760"/>
          </a:xfrm>
          <a:prstGeom prst="rect">
            <a:avLst/>
          </a:prstGeom>
          <a:noFill/>
          <a:ln/>
        </p:spPr>
        <p:txBody>
          <a:bodyPr wrap="square"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1.  Group samples into one message per second</a:t>
            </a:r>
            <a:endParaRPr lang="en-US" sz="1900" dirty="0"/>
          </a:p>
        </p:txBody>
      </p:sp>
      <p:sp>
        <p:nvSpPr>
          <p:cNvPr id="4" name="Text 2"/>
          <p:cNvSpPr txBox="1"/>
          <p:nvPr/>
        </p:nvSpPr>
        <p:spPr>
          <a:xfrm>
            <a:off x="1051560" y="1874520"/>
            <a:ext cx="10360152" cy="164592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Sending each sample separately would mean 50 messages every second</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Grouping one second of samples into a single message reduces that to one</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The server splits the message back into 50 individually timestamped readings</a:t>
            </a:r>
            <a:endParaRPr lang="en-US" sz="1600" dirty="0"/>
          </a:p>
        </p:txBody>
      </p:sp>
      <p:sp>
        <p:nvSpPr>
          <p:cNvPr id="5" name="Text 3"/>
          <p:cNvSpPr txBox="1"/>
          <p:nvPr/>
        </p:nvSpPr>
        <p:spPr>
          <a:xfrm>
            <a:off x="777240" y="3566160"/>
            <a:ext cx="10634472" cy="365760"/>
          </a:xfrm>
          <a:prstGeom prst="rect">
            <a:avLst/>
          </a:prstGeom>
          <a:noFill/>
          <a:ln/>
        </p:spPr>
        <p:txBody>
          <a:bodyPr wrap="square"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2.  Keep the database index small</a:t>
            </a:r>
            <a:endParaRPr lang="en-US" sz="1900" dirty="0"/>
          </a:p>
        </p:txBody>
      </p:sp>
      <p:sp>
        <p:nvSpPr>
          <p:cNvPr id="6" name="Text 4"/>
          <p:cNvSpPr txBox="1"/>
          <p:nvPr/>
        </p:nvSpPr>
        <p:spPr>
          <a:xfrm>
            <a:off x="1051560" y="3977640"/>
            <a:ext cx="10360152" cy="164592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InfluxDB keeps an index entry for every unique combination of labels</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Labelling messages with a counter would create a new entry every second</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Storing the counter as a value instead keeps the index at 25 entries no matter how much data arrives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Keeping the clocks in step</a:t>
            </a:r>
            <a:endParaRPr lang="en-US" sz="3200" dirty="0"/>
          </a:p>
        </p:txBody>
      </p:sp>
      <p:sp>
        <p:nvSpPr>
          <p:cNvPr id="3" name="Text 1"/>
          <p:cNvSpPr txBox="1"/>
          <p:nvPr/>
        </p:nvSpPr>
        <p:spPr>
          <a:xfrm>
            <a:off x="777240" y="1417320"/>
            <a:ext cx="10634472" cy="365760"/>
          </a:xfrm>
          <a:prstGeom prst="rect">
            <a:avLst/>
          </a:prstGeom>
          <a:noFill/>
          <a:ln/>
        </p:spPr>
        <p:txBody>
          <a:bodyPr wrap="square" rtlCol="0" anchor="ctr"/>
          <a:lstStyle/>
          <a:p>
            <a:pPr indent="0" marL="0">
              <a:buNone/>
            </a:pPr>
            <a:r>
              <a:rPr lang="en-US" sz="1700" dirty="0">
                <a:solidFill>
                  <a:srgbClr val="1A1A1A"/>
                </a:solidFill>
                <a:latin typeface="Calibri" pitchFamily="34" charset="0"/>
                <a:ea typeface="Calibri" pitchFamily="34" charset="-122"/>
                <a:cs typeface="Calibri" pitchFamily="34" charset="-120"/>
              </a:rPr>
              <a:t>A timestamp only means something if every part of the system agrees on the time.</a:t>
            </a:r>
            <a:endParaRPr lang="en-US" sz="1700" dirty="0"/>
          </a:p>
        </p:txBody>
      </p:sp>
      <p:sp>
        <p:nvSpPr>
          <p:cNvPr id="4" name="Text 2"/>
          <p:cNvSpPr txBox="1"/>
          <p:nvPr/>
        </p:nvSpPr>
        <p:spPr>
          <a:xfrm>
            <a:off x="777240" y="2011680"/>
            <a:ext cx="10634472" cy="1645920"/>
          </a:xfrm>
          <a:prstGeom prst="rect">
            <a:avLst/>
          </a:prstGeom>
          <a:noFill/>
          <a:ln/>
        </p:spPr>
        <p:txBody>
          <a:bodyPr wrap="square" rtlCol="0" anchor="ctr"/>
          <a:lstStyle/>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The server synchronises itself to public internet time servers</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The board then asks the server for the time, every 15 minutes</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Sample timing uses the board's own hardware timer, so a clock correction cannot disturb data already being collected</a:t>
            </a:r>
            <a:endParaRPr lang="en-US" sz="1700" dirty="0"/>
          </a:p>
        </p:txBody>
      </p:sp>
      <p:sp>
        <p:nvSpPr>
          <p:cNvPr id="5" name="Shape 3"/>
          <p:cNvSpPr/>
          <p:nvPr/>
        </p:nvSpPr>
        <p:spPr>
          <a:xfrm>
            <a:off x="777240" y="3931920"/>
            <a:ext cx="10634472" cy="0"/>
          </a:xfrm>
          <a:prstGeom prst="line">
            <a:avLst/>
          </a:prstGeom>
          <a:noFill/>
          <a:ln w="12700">
            <a:solidFill>
              <a:srgbClr val="BFBFBF"/>
            </a:solidFill>
            <a:prstDash val="solid"/>
          </a:ln>
        </p:spPr>
      </p:sp>
      <p:sp>
        <p:nvSpPr>
          <p:cNvPr id="6" name="Text 4"/>
          <p:cNvSpPr txBox="1"/>
          <p:nvPr/>
        </p:nvSpPr>
        <p:spPr>
          <a:xfrm>
            <a:off x="777240" y="4160520"/>
            <a:ext cx="10634472" cy="731520"/>
          </a:xfrm>
          <a:prstGeom prst="rect">
            <a:avLst/>
          </a:prstGeom>
          <a:noFill/>
          <a:ln/>
        </p:spPr>
        <p:txBody>
          <a:bodyPr wrap="square" rtlCol="0" anchor="ctr"/>
          <a:lstStyle/>
          <a:p>
            <a:pPr indent="0" marL="0">
              <a:lnSpc>
                <a:spcPts val="2400"/>
              </a:lnSpc>
              <a:buNone/>
            </a:pPr>
            <a:r>
              <a:rPr lang="en-US" sz="1600" dirty="0">
                <a:solidFill>
                  <a:srgbClr val="1A1A1A"/>
                </a:solidFill>
                <a:latin typeface="Calibri" pitchFamily="34" charset="0"/>
                <a:ea typeface="Calibri" pitchFamily="34" charset="-122"/>
                <a:cs typeface="Calibri" pitchFamily="34" charset="-120"/>
              </a:rPr>
              <a:t>When the board first connected, its clock was 887 milliseconds out. The system measured that correction and recorded it, rather than assuming the clocks agreed.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Software on the server</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554480"/>
          <a:ext cx="10634472" cy="914400"/>
        </p:xfrm>
        <a:graphic>
          <a:graphicData uri="http://schemas.openxmlformats.org/drawingml/2006/table">
            <a:tbl>
              <a:tblPr/>
              <a:tblGrid>
                <a:gridCol w="2743200"/>
                <a:gridCol w="7863840"/>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Service</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Purpose</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475488">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chrony</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Calibri" pitchFamily="34" charset="0"/>
                          <a:ea typeface="Calibri" pitchFamily="34" charset="-122"/>
                          <a:cs typeface="Calibri" pitchFamily="34" charset="-120"/>
                        </a:rPr>
                        <a:t>Keeps time, and provides time to the board</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Mosquitto</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Calibri" pitchFamily="34" charset="0"/>
                          <a:ea typeface="Calibri" pitchFamily="34" charset="-122"/>
                          <a:cs typeface="Calibri" pitchFamily="34" charset="-120"/>
                        </a:rPr>
                        <a:t>Receives messages from the sensor</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InfluxDB</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Calibri" pitchFamily="34" charset="0"/>
                          <a:ea typeface="Calibri" pitchFamily="34" charset="-122"/>
                          <a:cs typeface="Calibri" pitchFamily="34" charset="-120"/>
                        </a:rPr>
                        <a:t>Stores the readings</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MySQL</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Calibri" pitchFamily="34" charset="0"/>
                          <a:ea typeface="Calibri" pitchFamily="34" charset="-122"/>
                          <a:cs typeface="Calibri" pitchFamily="34" charset="-120"/>
                        </a:rPr>
                        <a:t>Holds device records and settings</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indent="0" marL="0">
                        <a:buNone/>
                      </a:pPr>
                      <a:r>
                        <a:rPr lang="en-US" sz="1600" b="1" dirty="0">
                          <a:solidFill>
                            <a:srgbClr val="1A1A1A"/>
                          </a:solidFill>
                          <a:latin typeface="Calibri" pitchFamily="34" charset="0"/>
                          <a:ea typeface="Calibri" pitchFamily="34" charset="-122"/>
                          <a:cs typeface="Calibri" pitchFamily="34" charset="-120"/>
                        </a:rPr>
                        <a:t>Grafana</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Calibri" pitchFamily="34" charset="0"/>
                          <a:ea typeface="Calibri" pitchFamily="34" charset="-122"/>
                          <a:cs typeface="Calibri" pitchFamily="34" charset="-120"/>
                        </a:rPr>
                        <a:t>Displays the live dashboard</a:t>
                      </a:r>
                      <a:endParaRPr lang="en-US" sz="16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777240" y="4846320"/>
            <a:ext cx="10634472" cy="640080"/>
          </a:xfrm>
          <a:prstGeom prst="rect">
            <a:avLst/>
          </a:prstGeom>
          <a:noFill/>
          <a:ln/>
        </p:spPr>
        <p:txBody>
          <a:bodyPr wrap="square" rtlCol="0" anchor="ctr"/>
          <a:lstStyle/>
          <a:p>
            <a:pPr indent="0" marL="0">
              <a:lnSpc>
                <a:spcPts val="2400"/>
              </a:lnSpc>
              <a:buNone/>
            </a:pPr>
            <a:r>
              <a:rPr lang="en-US" sz="1600" dirty="0">
                <a:solidFill>
                  <a:srgbClr val="1A1A1A"/>
                </a:solidFill>
                <a:latin typeface="Calibri" pitchFamily="34" charset="0"/>
                <a:ea typeface="Calibri" pitchFamily="34" charset="-122"/>
                <a:cs typeface="Calibri" pitchFamily="34" charset="-120"/>
              </a:rPr>
              <a:t>All five run on one Ubuntu virtual machine. Six scripts install and configure them, and each one checks its own work before the next runs.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Resource usage</a:t>
            </a:r>
            <a:endParaRPr lang="en-US" sz="3200" dirty="0"/>
          </a:p>
        </p:txBody>
      </p:sp>
      <p:graphicFrame>
        <p:nvGraphicFramePr>
          <p:cNvPr id="3" name="Chart 0" descr=""/>
          <p:cNvGraphicFramePr/>
          <p:nvPr/>
        </p:nvGraphicFramePr>
        <p:xfrm>
          <a:off x="777240" y="146304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828800"/>
            <a:ext cx="3657600" cy="2011680"/>
          </a:xfrm>
          <a:prstGeom prst="rect">
            <a:avLst/>
          </a:prstGeom>
          <a:noFill/>
          <a:ln/>
        </p:spPr>
        <p:txBody>
          <a:bodyPr wrap="square" rtlCol="0" anchor="ctr"/>
          <a:lstStyle/>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whole system uses about 600 MB of memory</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InfluxDB accounts for nearly half of it, and almost all the processor time</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Everything else is small by comparison, so tuning effort belongs in one place</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system measures its own resource use while running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Homework 1 — results</a:t>
            </a:r>
            <a:endParaRPr lang="en-US" sz="3200" dirty="0"/>
          </a:p>
        </p:txBody>
      </p:sp>
      <p:sp>
        <p:nvSpPr>
          <p:cNvPr id="3" name="Text 1"/>
          <p:cNvSpPr txBox="1"/>
          <p:nvPr/>
        </p:nvSpPr>
        <p:spPr>
          <a:xfrm>
            <a:off x="777240" y="1417320"/>
            <a:ext cx="5029200" cy="365760"/>
          </a:xfrm>
          <a:prstGeom prst="rect">
            <a:avLst/>
          </a:prstGeom>
          <a:noFill/>
          <a:ln/>
        </p:spPr>
        <p:txBody>
          <a:bodyPr wrap="square"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What works</a:t>
            </a:r>
            <a:endParaRPr lang="en-US" sz="1900" dirty="0"/>
          </a:p>
        </p:txBody>
      </p:sp>
      <p:sp>
        <p:nvSpPr>
          <p:cNvPr id="4" name="Text 2"/>
          <p:cNvSpPr txBox="1"/>
          <p:nvPr/>
        </p:nvSpPr>
        <p:spPr>
          <a:xfrm>
            <a:off x="777240" y="1828800"/>
            <a:ext cx="5212080" cy="2011680"/>
          </a:xfrm>
          <a:prstGeom prst="rect">
            <a:avLst/>
          </a:prstGeom>
          <a:noFill/>
          <a:ln/>
        </p:spPr>
        <p:txBody>
          <a:bodyPr wrap="square" rtlCol="0" anchor="ctr"/>
          <a:lstStyle/>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Real motion and sound data arriving continuously</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Laid flat, the board reads 1.0 g downward — gravity, and it moves between axes when the board is tilted</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board takes its time from the server, confirmed on the server's client list</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single command runs 13 checks across the system; all pass</a:t>
            </a:r>
            <a:endParaRPr lang="en-US" sz="1500" dirty="0"/>
          </a:p>
        </p:txBody>
      </p:sp>
      <p:sp>
        <p:nvSpPr>
          <p:cNvPr id="5" name="Text 3"/>
          <p:cNvSpPr txBox="1"/>
          <p:nvPr/>
        </p:nvSpPr>
        <p:spPr>
          <a:xfrm>
            <a:off x="6492240" y="1417320"/>
            <a:ext cx="4937760" cy="365760"/>
          </a:xfrm>
          <a:prstGeom prst="rect">
            <a:avLst/>
          </a:prstGeom>
          <a:noFill/>
          <a:ln/>
        </p:spPr>
        <p:txBody>
          <a:bodyPr wrap="square" rtlCol="0" anchor="ctr"/>
          <a:lstStyle/>
          <a:p>
            <a:pPr indent="0" marL="0">
              <a:buNone/>
            </a:pPr>
            <a:r>
              <a:rPr lang="en-US" sz="1900" b="1" dirty="0">
                <a:solidFill>
                  <a:srgbClr val="C55A11"/>
                </a:solidFill>
                <a:latin typeface="Calibri" pitchFamily="34" charset="0"/>
                <a:ea typeface="Calibri" pitchFamily="34" charset="-122"/>
                <a:cs typeface="Calibri" pitchFamily="34" charset="-120"/>
              </a:rPr>
              <a:t>Then: make it secure</a:t>
            </a:r>
            <a:endParaRPr lang="en-US" sz="1900" dirty="0"/>
          </a:p>
        </p:txBody>
      </p:sp>
      <p:sp>
        <p:nvSpPr>
          <p:cNvPr id="6" name="Text 4"/>
          <p:cNvSpPr txBox="1"/>
          <p:nvPr/>
        </p:nvSpPr>
        <p:spPr>
          <a:xfrm>
            <a:off x="6492240" y="1828800"/>
            <a:ext cx="4937760" cy="1645920"/>
          </a:xfrm>
          <a:prstGeom prst="rect">
            <a:avLst/>
          </a:prstGeom>
          <a:noFill/>
          <a:ln/>
        </p:spPr>
        <p:txBody>
          <a:bodyPr wrap="square" rtlCol="0" anchor="ctr"/>
          <a:lstStyle/>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Homework 1 ran fully open on a trusted network</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Anyone on the same WiFi could read the data, or send fake data</a:t>
            </a:r>
            <a:endParaRPr lang="en-US" sz="1500" dirty="0"/>
          </a:p>
          <a:p>
            <a:pPr marL="342900" indent="-342900">
              <a:lnSpc>
                <a:spcPts val="24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Homework 2 closes those gaps — the next slides</a:t>
            </a:r>
            <a:endParaRPr lang="en-US" sz="1500" dirty="0"/>
          </a:p>
        </p:txBody>
      </p:sp>
      <p:sp>
        <p:nvSpPr>
          <p:cNvPr id="7" name="Shape 5"/>
          <p:cNvSpPr/>
          <p:nvPr/>
        </p:nvSpPr>
        <p:spPr>
          <a:xfrm>
            <a:off x="777240" y="4754880"/>
            <a:ext cx="10634472" cy="0"/>
          </a:xfrm>
          <a:prstGeom prst="line">
            <a:avLst/>
          </a:prstGeom>
          <a:noFill/>
          <a:ln w="12700">
            <a:solidFill>
              <a:srgbClr val="BFBFBF"/>
            </a:solidFill>
            <a:prstDash val="solid"/>
          </a:ln>
        </p:spPr>
      </p:sp>
      <p:sp>
        <p:nvSpPr>
          <p:cNvPr id="8" name="Text 6"/>
          <p:cNvSpPr txBox="1"/>
          <p:nvPr/>
        </p:nvSpPr>
        <p:spPr>
          <a:xfrm>
            <a:off x="777240" y="4983480"/>
            <a:ext cx="10634472" cy="457200"/>
          </a:xfrm>
          <a:prstGeom prst="rect">
            <a:avLst/>
          </a:prstGeom>
          <a:noFill/>
          <a:ln/>
        </p:spPr>
        <p:txBody>
          <a:bodyPr wrap="square" rtlCol="0" anchor="ctr"/>
          <a:lstStyle/>
          <a:p>
            <a:pPr indent="0" marL="0">
              <a:buNone/>
            </a:pPr>
            <a:r>
              <a:rPr lang="en-US" sz="1600" i="1" dirty="0">
                <a:solidFill>
                  <a:srgbClr val="1A1A1A"/>
                </a:solidFill>
                <a:latin typeface="Calibri" pitchFamily="34" charset="0"/>
                <a:ea typeface="Calibri" pitchFamily="34" charset="-122"/>
                <a:cs typeface="Calibri" pitchFamily="34" charset="-120"/>
              </a:rPr>
              <a:t>The most useful lesson: a wrong clock does not cause an error message. It makes data quietly disappear.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Homework 2 — enhancing security</a:t>
            </a:r>
            <a:endParaRPr lang="en-US" sz="3200" dirty="0"/>
          </a:p>
        </p:txBody>
      </p:sp>
      <p:sp>
        <p:nvSpPr>
          <p:cNvPr id="3" name="Text 1"/>
          <p:cNvSpPr txBox="1"/>
          <p:nvPr/>
        </p:nvSpPr>
        <p:spPr>
          <a:xfrm>
            <a:off x="777240" y="1417320"/>
            <a:ext cx="10634472" cy="548640"/>
          </a:xfrm>
          <a:prstGeom prst="rect">
            <a:avLst/>
          </a:prstGeom>
          <a:noFill/>
          <a:ln/>
        </p:spPr>
        <p:txBody>
          <a:bodyPr wrap="square" rtlCol="0" anchor="ctr"/>
          <a:lstStyle/>
          <a:p>
            <a:pPr indent="0" marL="0">
              <a:lnSpc>
                <a:spcPts val="2400"/>
              </a:lnSpc>
              <a:buNone/>
            </a:pPr>
            <a:r>
              <a:rPr lang="en-US" sz="1700" dirty="0">
                <a:solidFill>
                  <a:srgbClr val="1A1A1A"/>
                </a:solidFill>
                <a:latin typeface="Calibri" pitchFamily="34" charset="0"/>
                <a:ea typeface="Calibri" pitchFamily="34" charset="-122"/>
                <a:cs typeface="Calibri" pitchFamily="34" charset="-120"/>
              </a:rPr>
              <a:t>Homework 1 proved the system works. Homework 2 makes it safe to run on an untrusted network, and protects the code itself.</a:t>
            </a:r>
            <a:endParaRPr lang="en-US" sz="1700" dirty="0"/>
          </a:p>
        </p:txBody>
      </p:sp>
      <p:sp>
        <p:nvSpPr>
          <p:cNvPr id="4" name="Text 2"/>
          <p:cNvSpPr txBox="1"/>
          <p:nvPr/>
        </p:nvSpPr>
        <p:spPr>
          <a:xfrm>
            <a:off x="777240" y="2148840"/>
            <a:ext cx="3383280" cy="8229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  Encrypt the connection</a:t>
            </a:r>
            <a:endParaRPr lang="en-US" sz="1600" dirty="0"/>
          </a:p>
        </p:txBody>
      </p:sp>
      <p:sp>
        <p:nvSpPr>
          <p:cNvPr id="5" name="Text 3"/>
          <p:cNvSpPr txBox="1"/>
          <p:nvPr/>
        </p:nvSpPr>
        <p:spPr>
          <a:xfrm>
            <a:off x="4343400" y="2148840"/>
            <a:ext cx="7068312" cy="822960"/>
          </a:xfrm>
          <a:prstGeom prst="rect">
            <a:avLst/>
          </a:prstGeom>
          <a:noFill/>
          <a:ln/>
        </p:spPr>
        <p:txBody>
          <a:bodyPr wrap="square" lIns="0" tIns="0" rIns="0" bIns="0" rtlCol="0" anchor="ctr"/>
          <a:lstStyle/>
          <a:p>
            <a:pPr indent="0" marL="0">
              <a:lnSpc>
                <a:spcPts val="1900"/>
              </a:lnSpc>
              <a:buNone/>
            </a:pPr>
            <a:r>
              <a:rPr lang="en-US" sz="1450" dirty="0">
                <a:solidFill>
                  <a:srgbClr val="1A1A1A"/>
                </a:solidFill>
                <a:latin typeface="Calibri" pitchFamily="34" charset="0"/>
                <a:ea typeface="Calibri" pitchFamily="34" charset="-122"/>
                <a:cs typeface="Calibri" pitchFamily="34" charset="-120"/>
              </a:rPr>
              <a:t>MQTT now runs over TLS on port 8883. The board checks the server's certificate before sending anything.</a:t>
            </a:r>
            <a:endParaRPr lang="en-US" sz="1450" dirty="0"/>
          </a:p>
        </p:txBody>
      </p:sp>
      <p:sp>
        <p:nvSpPr>
          <p:cNvPr id="6" name="Text 4"/>
          <p:cNvSpPr txBox="1"/>
          <p:nvPr/>
        </p:nvSpPr>
        <p:spPr>
          <a:xfrm>
            <a:off x="777240" y="3108960"/>
            <a:ext cx="3383280" cy="8229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  Process the data</a:t>
            </a:r>
            <a:endParaRPr lang="en-US" sz="1600" dirty="0"/>
          </a:p>
        </p:txBody>
      </p:sp>
      <p:sp>
        <p:nvSpPr>
          <p:cNvPr id="7" name="Text 5"/>
          <p:cNvSpPr txBox="1"/>
          <p:nvPr/>
        </p:nvSpPr>
        <p:spPr>
          <a:xfrm>
            <a:off x="4343400" y="3108960"/>
            <a:ext cx="7068312" cy="822960"/>
          </a:xfrm>
          <a:prstGeom prst="rect">
            <a:avLst/>
          </a:prstGeom>
          <a:noFill/>
          <a:ln/>
        </p:spPr>
        <p:txBody>
          <a:bodyPr wrap="square" lIns="0" tIns="0" rIns="0" bIns="0" rtlCol="0" anchor="ctr"/>
          <a:lstStyle/>
          <a:p>
            <a:pPr indent="0" marL="0">
              <a:lnSpc>
                <a:spcPts val="1900"/>
              </a:lnSpc>
              <a:buNone/>
            </a:pPr>
            <a:r>
              <a:rPr lang="en-US" sz="1450" dirty="0">
                <a:solidFill>
                  <a:srgbClr val="1A1A1A"/>
                </a:solidFill>
                <a:latin typeface="Calibri" pitchFamily="34" charset="0"/>
                <a:ea typeface="Calibri" pitchFamily="34" charset="-122"/>
                <a:cs typeface="Calibri" pitchFamily="34" charset="-120"/>
              </a:rPr>
              <a:t>An AI framework analyses the live stream and the stored history, driven entirely by a configuration file.</a:t>
            </a:r>
            <a:endParaRPr lang="en-US" sz="1450" dirty="0"/>
          </a:p>
        </p:txBody>
      </p:sp>
      <p:sp>
        <p:nvSpPr>
          <p:cNvPr id="8" name="Text 6"/>
          <p:cNvSpPr txBox="1"/>
          <p:nvPr/>
        </p:nvSpPr>
        <p:spPr>
          <a:xfrm>
            <a:off x="777240" y="4069080"/>
            <a:ext cx="3383280" cy="8229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  Make the code unreadable</a:t>
            </a:r>
            <a:endParaRPr lang="en-US" sz="1600" dirty="0"/>
          </a:p>
        </p:txBody>
      </p:sp>
      <p:sp>
        <p:nvSpPr>
          <p:cNvPr id="9" name="Text 7"/>
          <p:cNvSpPr txBox="1"/>
          <p:nvPr/>
        </p:nvSpPr>
        <p:spPr>
          <a:xfrm>
            <a:off x="4343400" y="4069080"/>
            <a:ext cx="7068312" cy="822960"/>
          </a:xfrm>
          <a:prstGeom prst="rect">
            <a:avLst/>
          </a:prstGeom>
          <a:noFill/>
          <a:ln/>
        </p:spPr>
        <p:txBody>
          <a:bodyPr wrap="square" lIns="0" tIns="0" rIns="0" bIns="0" rtlCol="0" anchor="ctr"/>
          <a:lstStyle/>
          <a:p>
            <a:pPr indent="0" marL="0">
              <a:lnSpc>
                <a:spcPts val="1900"/>
              </a:lnSpc>
              <a:buNone/>
            </a:pPr>
            <a:r>
              <a:rPr lang="en-US" sz="1450" dirty="0">
                <a:solidFill>
                  <a:srgbClr val="1A1A1A"/>
                </a:solidFill>
                <a:latin typeface="Calibri" pitchFamily="34" charset="0"/>
                <a:ea typeface="Calibri" pitchFamily="34" charset="-122"/>
                <a:cs typeface="Calibri" pitchFamily="34" charset="-120"/>
              </a:rPr>
              <a:t>The Python programs are compiled into standalone binaries, so the source cannot be read back.</a:t>
            </a:r>
            <a:endParaRPr lang="en-US" sz="1450" dirty="0"/>
          </a:p>
        </p:txBody>
      </p:sp>
      <p:sp>
        <p:nvSpPr>
          <p:cNvPr id="10" name="Text 8"/>
          <p:cNvSpPr txBox="1"/>
          <p:nvPr/>
        </p:nvSpPr>
        <p:spPr>
          <a:xfrm>
            <a:off x="777240" y="5029200"/>
            <a:ext cx="3383280" cy="8229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4.  Make the code uncopyable</a:t>
            </a:r>
            <a:endParaRPr lang="en-US" sz="1600" dirty="0"/>
          </a:p>
        </p:txBody>
      </p:sp>
      <p:sp>
        <p:nvSpPr>
          <p:cNvPr id="11" name="Text 9"/>
          <p:cNvSpPr txBox="1"/>
          <p:nvPr/>
        </p:nvSpPr>
        <p:spPr>
          <a:xfrm>
            <a:off x="4343400" y="5029200"/>
            <a:ext cx="7068312" cy="822960"/>
          </a:xfrm>
          <a:prstGeom prst="rect">
            <a:avLst/>
          </a:prstGeom>
          <a:noFill/>
          <a:ln/>
        </p:spPr>
        <p:txBody>
          <a:bodyPr wrap="square" lIns="0" tIns="0" rIns="0" bIns="0" rtlCol="0" anchor="ctr"/>
          <a:lstStyle/>
          <a:p>
            <a:pPr indent="0" marL="0">
              <a:lnSpc>
                <a:spcPts val="1900"/>
              </a:lnSpc>
              <a:buNone/>
            </a:pPr>
            <a:r>
              <a:rPr lang="en-US" sz="1450" dirty="0">
                <a:solidFill>
                  <a:srgbClr val="1A1A1A"/>
                </a:solidFill>
                <a:latin typeface="Calibri" pitchFamily="34" charset="0"/>
                <a:ea typeface="Calibri" pitchFamily="34" charset="-122"/>
                <a:cs typeface="Calibri" pitchFamily="34" charset="-120"/>
              </a:rPr>
              <a:t>The binaries are encrypted with a key locked inside the machine's TPM chip, so a copied file is useless elsewhere.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Securing the connection</a:t>
            </a:r>
            <a:endParaRPr lang="en-US" sz="3200" dirty="0"/>
          </a:p>
        </p:txBody>
      </p:sp>
      <p:sp>
        <p:nvSpPr>
          <p:cNvPr id="3" name="Shape 1"/>
          <p:cNvSpPr/>
          <p:nvPr/>
        </p:nvSpPr>
        <p:spPr>
          <a:xfrm>
            <a:off x="777240" y="2011680"/>
            <a:ext cx="2377440" cy="868680"/>
          </a:xfrm>
          <a:prstGeom prst="rect">
            <a:avLst/>
          </a:prstGeom>
          <a:solidFill>
            <a:srgbClr val="FFFFFF"/>
          </a:solidFill>
          <a:ln w="25400">
            <a:solidFill>
              <a:srgbClr val="C55A11"/>
            </a:solidFill>
            <a:prstDash val="solid"/>
          </a:ln>
        </p:spPr>
      </p:sp>
      <p:sp>
        <p:nvSpPr>
          <p:cNvPr id="4" name="Text 2"/>
          <p:cNvSpPr txBox="1"/>
          <p:nvPr/>
        </p:nvSpPr>
        <p:spPr>
          <a:xfrm>
            <a:off x="777240" y="2157984"/>
            <a:ext cx="237744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M5StickC PLUS</a:t>
            </a:r>
            <a:endParaRPr lang="en-US" sz="1400" dirty="0"/>
          </a:p>
        </p:txBody>
      </p:sp>
      <p:sp>
        <p:nvSpPr>
          <p:cNvPr id="5" name="Text 3"/>
          <p:cNvSpPr txBox="1"/>
          <p:nvPr/>
        </p:nvSpPr>
        <p:spPr>
          <a:xfrm>
            <a:off x="777240" y="2487168"/>
            <a:ext cx="237744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the sensor</a:t>
            </a:r>
            <a:endParaRPr lang="en-US" sz="1100" dirty="0"/>
          </a:p>
        </p:txBody>
      </p:sp>
      <p:sp>
        <p:nvSpPr>
          <p:cNvPr id="6" name="Shape 4"/>
          <p:cNvSpPr/>
          <p:nvPr/>
        </p:nvSpPr>
        <p:spPr>
          <a:xfrm>
            <a:off x="5532120" y="2011680"/>
            <a:ext cx="2377440" cy="868680"/>
          </a:xfrm>
          <a:prstGeom prst="rect">
            <a:avLst/>
          </a:prstGeom>
          <a:solidFill>
            <a:srgbClr val="FFFFFF"/>
          </a:solidFill>
          <a:ln w="12700">
            <a:solidFill>
              <a:srgbClr val="404040"/>
            </a:solidFill>
            <a:prstDash val="solid"/>
          </a:ln>
        </p:spPr>
      </p:sp>
      <p:sp>
        <p:nvSpPr>
          <p:cNvPr id="7" name="Text 5"/>
          <p:cNvSpPr txBox="1"/>
          <p:nvPr/>
        </p:nvSpPr>
        <p:spPr>
          <a:xfrm>
            <a:off x="5532120" y="2157984"/>
            <a:ext cx="237744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MQTT broker</a:t>
            </a:r>
            <a:endParaRPr lang="en-US" sz="1400" dirty="0"/>
          </a:p>
        </p:txBody>
      </p:sp>
      <p:sp>
        <p:nvSpPr>
          <p:cNvPr id="8" name="Text 6"/>
          <p:cNvSpPr txBox="1"/>
          <p:nvPr/>
        </p:nvSpPr>
        <p:spPr>
          <a:xfrm>
            <a:off x="5532120" y="2487168"/>
            <a:ext cx="237744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the server</a:t>
            </a:r>
            <a:endParaRPr lang="en-US" sz="1100" dirty="0"/>
          </a:p>
        </p:txBody>
      </p:sp>
      <p:sp>
        <p:nvSpPr>
          <p:cNvPr id="9" name="Shape 7"/>
          <p:cNvSpPr/>
          <p:nvPr/>
        </p:nvSpPr>
        <p:spPr>
          <a:xfrm>
            <a:off x="3291840" y="2450592"/>
            <a:ext cx="2103120" cy="0"/>
          </a:xfrm>
          <a:prstGeom prst="line">
            <a:avLst/>
          </a:prstGeom>
          <a:noFill/>
          <a:ln w="15875">
            <a:solidFill>
              <a:srgbClr val="C55A11"/>
            </a:solidFill>
            <a:prstDash val="solid"/>
            <a:tailEnd type="triangle"/>
          </a:ln>
        </p:spPr>
      </p:sp>
      <p:sp>
        <p:nvSpPr>
          <p:cNvPr id="10" name="Text 8"/>
          <p:cNvSpPr txBox="1"/>
          <p:nvPr/>
        </p:nvSpPr>
        <p:spPr>
          <a:xfrm>
            <a:off x="3246120" y="1719072"/>
            <a:ext cx="2377440" cy="274320"/>
          </a:xfrm>
          <a:prstGeom prst="rect">
            <a:avLst/>
          </a:prstGeom>
          <a:noFill/>
          <a:ln/>
        </p:spPr>
        <p:txBody>
          <a:bodyPr wrap="square" rtlCol="0" anchor="ctr"/>
          <a:lstStyle/>
          <a:p>
            <a:pPr algn="ctr" indent="0" marL="0">
              <a:buNone/>
            </a:pPr>
            <a:r>
              <a:rPr lang="en-US" sz="1200" i="1" dirty="0">
                <a:solidFill>
                  <a:srgbClr val="C55A11"/>
                </a:solidFill>
                <a:latin typeface="Calibri" pitchFamily="34" charset="0"/>
                <a:ea typeface="Calibri" pitchFamily="34" charset="-122"/>
                <a:cs typeface="Calibri" pitchFamily="34" charset="-120"/>
              </a:rPr>
              <a:t>encrypted (TLS, port 8883)</a:t>
            </a:r>
            <a:endParaRPr lang="en-US" sz="1200" dirty="0"/>
          </a:p>
        </p:txBody>
      </p:sp>
      <p:sp>
        <p:nvSpPr>
          <p:cNvPr id="11" name="Text 9"/>
          <p:cNvSpPr txBox="1"/>
          <p:nvPr/>
        </p:nvSpPr>
        <p:spPr>
          <a:xfrm>
            <a:off x="3246120" y="2880360"/>
            <a:ext cx="2377440" cy="274320"/>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checks certificate</a:t>
            </a:r>
            <a:endParaRPr lang="en-US" sz="1200" dirty="0"/>
          </a:p>
        </p:txBody>
      </p:sp>
      <p:sp>
        <p:nvSpPr>
          <p:cNvPr id="12" name="Text 10"/>
          <p:cNvSpPr txBox="1"/>
          <p:nvPr/>
        </p:nvSpPr>
        <p:spPr>
          <a:xfrm>
            <a:off x="777240" y="3337560"/>
            <a:ext cx="10634472" cy="201168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Before, messages travelled in plain text on port 1883 — anyone on the network could read or forge them</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Now the broker presents a certificate signed by a private authority, and the board carries a copy of that authority</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The board refuses to send data unless the certificate checks out, so it cannot be tricked by a fake server</a:t>
            </a:r>
            <a:endParaRPr lang="en-US" sz="1600" dirty="0"/>
          </a:p>
          <a:p>
            <a:pPr marL="342900" indent="-342900">
              <a:lnSpc>
                <a:spcPts val="2400"/>
              </a:lnSpc>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Verified on the real hardware: the board validates the certificate and streams over the encrypted channel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Processing the data — AI framework</a:t>
            </a:r>
            <a:endParaRPr lang="en-US" sz="3200" dirty="0"/>
          </a:p>
        </p:txBody>
      </p:sp>
      <p:sp>
        <p:nvSpPr>
          <p:cNvPr id="3" name="Shape 1"/>
          <p:cNvSpPr/>
          <p:nvPr/>
        </p:nvSpPr>
        <p:spPr>
          <a:xfrm>
            <a:off x="777240" y="2011680"/>
            <a:ext cx="2468880" cy="777240"/>
          </a:xfrm>
          <a:prstGeom prst="rect">
            <a:avLst/>
          </a:prstGeom>
          <a:solidFill>
            <a:srgbClr val="FFFFFF"/>
          </a:solidFill>
          <a:ln w="12700">
            <a:solidFill>
              <a:srgbClr val="404040"/>
            </a:solidFill>
            <a:prstDash val="solid"/>
          </a:ln>
        </p:spPr>
      </p:sp>
      <p:sp>
        <p:nvSpPr>
          <p:cNvPr id="4" name="Text 2"/>
          <p:cNvSpPr txBox="1"/>
          <p:nvPr/>
        </p:nvSpPr>
        <p:spPr>
          <a:xfrm>
            <a:off x="777240" y="2157984"/>
            <a:ext cx="246888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Live (MQTT)</a:t>
            </a:r>
            <a:endParaRPr lang="en-US" sz="1400" dirty="0"/>
          </a:p>
        </p:txBody>
      </p:sp>
      <p:sp>
        <p:nvSpPr>
          <p:cNvPr id="5" name="Text 3"/>
          <p:cNvSpPr txBox="1"/>
          <p:nvPr/>
        </p:nvSpPr>
        <p:spPr>
          <a:xfrm>
            <a:off x="777240" y="2487168"/>
            <a:ext cx="246888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real time</a:t>
            </a:r>
            <a:endParaRPr lang="en-US" sz="1100" dirty="0"/>
          </a:p>
        </p:txBody>
      </p:sp>
      <p:sp>
        <p:nvSpPr>
          <p:cNvPr id="6" name="Shape 4"/>
          <p:cNvSpPr/>
          <p:nvPr/>
        </p:nvSpPr>
        <p:spPr>
          <a:xfrm>
            <a:off x="777240" y="3200400"/>
            <a:ext cx="2468880" cy="777240"/>
          </a:xfrm>
          <a:prstGeom prst="rect">
            <a:avLst/>
          </a:prstGeom>
          <a:solidFill>
            <a:srgbClr val="FFFFFF"/>
          </a:solidFill>
          <a:ln w="12700">
            <a:solidFill>
              <a:srgbClr val="404040"/>
            </a:solidFill>
            <a:prstDash val="solid"/>
          </a:ln>
        </p:spPr>
      </p:sp>
      <p:sp>
        <p:nvSpPr>
          <p:cNvPr id="7" name="Text 5"/>
          <p:cNvSpPr txBox="1"/>
          <p:nvPr/>
        </p:nvSpPr>
        <p:spPr>
          <a:xfrm>
            <a:off x="777240" y="3346704"/>
            <a:ext cx="246888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Stored (InfluxDB)</a:t>
            </a:r>
            <a:endParaRPr lang="en-US" sz="1400" dirty="0"/>
          </a:p>
        </p:txBody>
      </p:sp>
      <p:sp>
        <p:nvSpPr>
          <p:cNvPr id="8" name="Text 6"/>
          <p:cNvSpPr txBox="1"/>
          <p:nvPr/>
        </p:nvSpPr>
        <p:spPr>
          <a:xfrm>
            <a:off x="777240" y="3675888"/>
            <a:ext cx="246888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history</a:t>
            </a:r>
            <a:endParaRPr lang="en-US" sz="1100" dirty="0"/>
          </a:p>
        </p:txBody>
      </p:sp>
      <p:sp>
        <p:nvSpPr>
          <p:cNvPr id="9" name="Shape 7"/>
          <p:cNvSpPr/>
          <p:nvPr/>
        </p:nvSpPr>
        <p:spPr>
          <a:xfrm>
            <a:off x="3977640" y="2606040"/>
            <a:ext cx="2651760" cy="777240"/>
          </a:xfrm>
          <a:prstGeom prst="rect">
            <a:avLst/>
          </a:prstGeom>
          <a:solidFill>
            <a:srgbClr val="FFFFFF"/>
          </a:solidFill>
          <a:ln w="25400">
            <a:solidFill>
              <a:srgbClr val="C55A11"/>
            </a:solidFill>
            <a:prstDash val="solid"/>
          </a:ln>
        </p:spPr>
      </p:sp>
      <p:sp>
        <p:nvSpPr>
          <p:cNvPr id="10" name="Text 8"/>
          <p:cNvSpPr txBox="1"/>
          <p:nvPr/>
        </p:nvSpPr>
        <p:spPr>
          <a:xfrm>
            <a:off x="3977640" y="2752344"/>
            <a:ext cx="265176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Shared analysis</a:t>
            </a:r>
            <a:endParaRPr lang="en-US" sz="1400" dirty="0"/>
          </a:p>
        </p:txBody>
      </p:sp>
      <p:sp>
        <p:nvSpPr>
          <p:cNvPr id="11" name="Text 9"/>
          <p:cNvSpPr txBox="1"/>
          <p:nvPr/>
        </p:nvSpPr>
        <p:spPr>
          <a:xfrm>
            <a:off x="3977640" y="3081528"/>
            <a:ext cx="265176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one definition</a:t>
            </a:r>
            <a:endParaRPr lang="en-US" sz="1100" dirty="0"/>
          </a:p>
        </p:txBody>
      </p:sp>
      <p:sp>
        <p:nvSpPr>
          <p:cNvPr id="12" name="Shape 10"/>
          <p:cNvSpPr/>
          <p:nvPr/>
        </p:nvSpPr>
        <p:spPr>
          <a:xfrm>
            <a:off x="7543800" y="2606040"/>
            <a:ext cx="2651760" cy="777240"/>
          </a:xfrm>
          <a:prstGeom prst="rect">
            <a:avLst/>
          </a:prstGeom>
          <a:solidFill>
            <a:srgbClr val="FFFFFF"/>
          </a:solidFill>
          <a:ln w="12700">
            <a:solidFill>
              <a:srgbClr val="404040"/>
            </a:solidFill>
            <a:prstDash val="solid"/>
          </a:ln>
        </p:spPr>
      </p:sp>
      <p:sp>
        <p:nvSpPr>
          <p:cNvPr id="13" name="Text 11"/>
          <p:cNvSpPr txBox="1"/>
          <p:nvPr/>
        </p:nvSpPr>
        <p:spPr>
          <a:xfrm>
            <a:off x="7543800" y="2752344"/>
            <a:ext cx="2651760" cy="292608"/>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Results</a:t>
            </a:r>
            <a:endParaRPr lang="en-US" sz="1400" dirty="0"/>
          </a:p>
        </p:txBody>
      </p:sp>
      <p:sp>
        <p:nvSpPr>
          <p:cNvPr id="14" name="Text 12"/>
          <p:cNvSpPr txBox="1"/>
          <p:nvPr/>
        </p:nvSpPr>
        <p:spPr>
          <a:xfrm>
            <a:off x="7543800" y="3081528"/>
            <a:ext cx="2651760" cy="256032"/>
          </a:xfrm>
          <a:prstGeom prst="rect">
            <a:avLst/>
          </a:prstGeom>
          <a:noFill/>
          <a:ln/>
        </p:spPr>
        <p:txBody>
          <a:bodyPr wrap="square" lIns="0" tIns="0" rIns="0" bIns="0"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back to database</a:t>
            </a:r>
            <a:endParaRPr lang="en-US" sz="1100" dirty="0"/>
          </a:p>
        </p:txBody>
      </p:sp>
      <p:sp>
        <p:nvSpPr>
          <p:cNvPr id="15" name="Shape 13"/>
          <p:cNvSpPr/>
          <p:nvPr/>
        </p:nvSpPr>
        <p:spPr>
          <a:xfrm>
            <a:off x="3246120" y="2395728"/>
            <a:ext cx="713232" cy="0"/>
          </a:xfrm>
          <a:prstGeom prst="line">
            <a:avLst/>
          </a:prstGeom>
          <a:noFill/>
          <a:ln w="15875">
            <a:solidFill>
              <a:srgbClr val="404040"/>
            </a:solidFill>
            <a:prstDash val="solid"/>
            <a:tailEnd type="triangle"/>
          </a:ln>
        </p:spPr>
      </p:sp>
      <p:sp>
        <p:nvSpPr>
          <p:cNvPr id="16" name="Shape 14"/>
          <p:cNvSpPr/>
          <p:nvPr/>
        </p:nvSpPr>
        <p:spPr>
          <a:xfrm>
            <a:off x="3246120" y="3584448"/>
            <a:ext cx="713232" cy="0"/>
          </a:xfrm>
          <a:prstGeom prst="line">
            <a:avLst/>
          </a:prstGeom>
          <a:noFill/>
          <a:ln w="15875">
            <a:solidFill>
              <a:srgbClr val="404040"/>
            </a:solidFill>
            <a:prstDash val="solid"/>
            <a:tailEnd type="triangle"/>
          </a:ln>
        </p:spPr>
      </p:sp>
      <p:sp>
        <p:nvSpPr>
          <p:cNvPr id="17" name="Shape 15"/>
          <p:cNvSpPr/>
          <p:nvPr/>
        </p:nvSpPr>
        <p:spPr>
          <a:xfrm>
            <a:off x="6629400" y="2990088"/>
            <a:ext cx="868680" cy="0"/>
          </a:xfrm>
          <a:prstGeom prst="line">
            <a:avLst/>
          </a:prstGeom>
          <a:noFill/>
          <a:ln w="15875">
            <a:solidFill>
              <a:srgbClr val="404040"/>
            </a:solidFill>
            <a:prstDash val="solid"/>
            <a:tailEnd type="triangle"/>
          </a:ln>
        </p:spPr>
      </p:sp>
      <p:sp>
        <p:nvSpPr>
          <p:cNvPr id="18" name="Text 16"/>
          <p:cNvSpPr txBox="1"/>
          <p:nvPr/>
        </p:nvSpPr>
        <p:spPr>
          <a:xfrm>
            <a:off x="777240" y="3749040"/>
            <a:ext cx="10634472" cy="2011680"/>
          </a:xfrm>
          <a:prstGeom prst="rect">
            <a:avLst/>
          </a:prstGeom>
          <a:noFill/>
          <a:ln/>
        </p:spPr>
        <p:txBody>
          <a:bodyPr wrap="square" rtlCol="0" anchor="ctr"/>
          <a:lstStyle/>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Two programs — one reads the live stream, one re-reads stored history for a chosen time range</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Both share the same analysis code, so a measurement means the same thing live or after the fact</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A configuration file decides which sensors and which calculations to run — nothing is fixed in the code</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It correctly tracked the board moving between still, walking and shaking, labelling each automatically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Protecting the program</a:t>
            </a:r>
            <a:endParaRPr lang="en-US" sz="3200" dirty="0"/>
          </a:p>
        </p:txBody>
      </p:sp>
      <p:sp>
        <p:nvSpPr>
          <p:cNvPr id="3" name="Text 1"/>
          <p:cNvSpPr txBox="1"/>
          <p:nvPr/>
        </p:nvSpPr>
        <p:spPr>
          <a:xfrm>
            <a:off x="777240" y="1371600"/>
            <a:ext cx="10634472" cy="365760"/>
          </a:xfrm>
          <a:prstGeom prst="rect">
            <a:avLst/>
          </a:prstGeom>
          <a:noFill/>
          <a:ln/>
        </p:spPr>
        <p:txBody>
          <a:bodyPr wrap="square" rtlCol="0" anchor="ctr"/>
          <a:lstStyle/>
          <a:p>
            <a:pPr indent="0" marL="0">
              <a:buNone/>
            </a:pPr>
            <a:r>
              <a:rPr lang="en-US" sz="1700" dirty="0">
                <a:solidFill>
                  <a:srgbClr val="1A1A1A"/>
                </a:solidFill>
                <a:latin typeface="Calibri" pitchFamily="34" charset="0"/>
                <a:ea typeface="Calibri" pitchFamily="34" charset="-122"/>
                <a:cs typeface="Calibri" pitchFamily="34" charset="-120"/>
              </a:rPr>
              <a:t>Two layers, answering two different threats.</a:t>
            </a:r>
            <a:endParaRPr lang="en-US" sz="1700" dirty="0"/>
          </a:p>
        </p:txBody>
      </p:sp>
      <p:sp>
        <p:nvSpPr>
          <p:cNvPr id="4" name="Text 2"/>
          <p:cNvSpPr txBox="1"/>
          <p:nvPr/>
        </p:nvSpPr>
        <p:spPr>
          <a:xfrm>
            <a:off x="777240" y="1965960"/>
            <a:ext cx="5029200" cy="365760"/>
          </a:xfrm>
          <a:prstGeom prst="rect">
            <a:avLst/>
          </a:prstGeom>
          <a:noFill/>
          <a:ln/>
        </p:spPr>
        <p:txBody>
          <a:bodyPr wrap="square" rtlCol="0" anchor="ctr"/>
          <a:lstStyle/>
          <a:p>
            <a:pPr indent="0" marL="0">
              <a:buNone/>
            </a:pPr>
            <a:r>
              <a:rPr lang="en-US" sz="1900" b="1" dirty="0">
                <a:solidFill>
                  <a:srgbClr val="1F3864"/>
                </a:solidFill>
                <a:latin typeface="Calibri" pitchFamily="34" charset="0"/>
                <a:ea typeface="Calibri" pitchFamily="34" charset="-122"/>
                <a:cs typeface="Calibri" pitchFamily="34" charset="-120"/>
              </a:rPr>
              <a:t>Make it unreadable</a:t>
            </a:r>
            <a:endParaRPr lang="en-US" sz="1900" dirty="0"/>
          </a:p>
        </p:txBody>
      </p:sp>
      <p:sp>
        <p:nvSpPr>
          <p:cNvPr id="5" name="Text 3"/>
          <p:cNvSpPr txBox="1"/>
          <p:nvPr/>
        </p:nvSpPr>
        <p:spPr>
          <a:xfrm>
            <a:off x="777240" y="2377440"/>
            <a:ext cx="5120640" cy="1645920"/>
          </a:xfrm>
          <a:prstGeom prst="rect">
            <a:avLst/>
          </a:prstGeom>
          <a:noFill/>
          <a:ln/>
        </p:spPr>
        <p:txBody>
          <a:bodyPr wrap="square" rtlCol="0" anchor="ctr"/>
          <a:lstStyle/>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Python programs are compiled into standalone binaries</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original source code cannot be read back out of them</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binaries were checked to give exactly the same results as the source</a:t>
            </a:r>
            <a:endParaRPr lang="en-US" sz="1550" dirty="0"/>
          </a:p>
        </p:txBody>
      </p:sp>
      <p:sp>
        <p:nvSpPr>
          <p:cNvPr id="6" name="Text 4"/>
          <p:cNvSpPr txBox="1"/>
          <p:nvPr/>
        </p:nvSpPr>
        <p:spPr>
          <a:xfrm>
            <a:off x="6492240" y="1965960"/>
            <a:ext cx="4937760" cy="365760"/>
          </a:xfrm>
          <a:prstGeom prst="rect">
            <a:avLst/>
          </a:prstGeom>
          <a:noFill/>
          <a:ln/>
        </p:spPr>
        <p:txBody>
          <a:bodyPr wrap="square" rtlCol="0" anchor="ctr"/>
          <a:lstStyle/>
          <a:p>
            <a:pPr indent="0" marL="0">
              <a:buNone/>
            </a:pPr>
            <a:r>
              <a:rPr lang="en-US" sz="1900" b="1" dirty="0">
                <a:solidFill>
                  <a:srgbClr val="C55A11"/>
                </a:solidFill>
                <a:latin typeface="Calibri" pitchFamily="34" charset="0"/>
                <a:ea typeface="Calibri" pitchFamily="34" charset="-122"/>
                <a:cs typeface="Calibri" pitchFamily="34" charset="-120"/>
              </a:rPr>
              <a:t>Make it uncopyable</a:t>
            </a:r>
            <a:endParaRPr lang="en-US" sz="1900" dirty="0"/>
          </a:p>
        </p:txBody>
      </p:sp>
      <p:sp>
        <p:nvSpPr>
          <p:cNvPr id="7" name="Text 5"/>
          <p:cNvSpPr txBox="1"/>
          <p:nvPr/>
        </p:nvSpPr>
        <p:spPr>
          <a:xfrm>
            <a:off x="6492240" y="2377440"/>
            <a:ext cx="4937760" cy="1645920"/>
          </a:xfrm>
          <a:prstGeom prst="rect">
            <a:avLst/>
          </a:prstGeom>
          <a:noFill/>
          <a:ln/>
        </p:spPr>
        <p:txBody>
          <a:bodyPr wrap="square" rtlCol="0" anchor="ctr"/>
          <a:lstStyle/>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Each binary is encrypted with a key locked inside the machine's TPM security chip</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The chip only releases the key on the machine that created it</a:t>
            </a:r>
            <a:endParaRPr lang="en-US" sz="1550" dirty="0"/>
          </a:p>
          <a:p>
            <a:pPr marL="342900" indent="-342900">
              <a:lnSpc>
                <a:spcPts val="2400"/>
              </a:lnSpc>
              <a:spcAft>
                <a:spcPts val="1000"/>
              </a:spcAft>
              <a:buSzPct val="100000"/>
              <a:buChar char="•"/>
            </a:pPr>
            <a:r>
              <a:rPr lang="en-US" sz="1550" dirty="0">
                <a:solidFill>
                  <a:srgbClr val="1A1A1A"/>
                </a:solidFill>
                <a:latin typeface="Calibri" pitchFamily="34" charset="0"/>
                <a:ea typeface="Calibri" pitchFamily="34" charset="-122"/>
                <a:cs typeface="Calibri" pitchFamily="34" charset="-120"/>
              </a:rPr>
              <a:t>Copying the file to another machine leaves it unusable — the other chip will not unlock it</a:t>
            </a:r>
            <a:endParaRPr lang="en-US" sz="1550" dirty="0"/>
          </a:p>
        </p:txBody>
      </p:sp>
      <p:sp>
        <p:nvSpPr>
          <p:cNvPr id="8" name="Shape 6"/>
          <p:cNvSpPr/>
          <p:nvPr/>
        </p:nvSpPr>
        <p:spPr>
          <a:xfrm>
            <a:off x="777240" y="4526280"/>
            <a:ext cx="10634472" cy="0"/>
          </a:xfrm>
          <a:prstGeom prst="line">
            <a:avLst/>
          </a:prstGeom>
          <a:noFill/>
          <a:ln w="12700">
            <a:solidFill>
              <a:srgbClr val="BFBFBF"/>
            </a:solidFill>
            <a:prstDash val="solid"/>
          </a:ln>
        </p:spPr>
      </p:sp>
      <p:sp>
        <p:nvSpPr>
          <p:cNvPr id="9" name="Text 7"/>
          <p:cNvSpPr txBox="1"/>
          <p:nvPr/>
        </p:nvSpPr>
        <p:spPr>
          <a:xfrm>
            <a:off x="777240" y="4754880"/>
            <a:ext cx="10634472" cy="640080"/>
          </a:xfrm>
          <a:prstGeom prst="rect">
            <a:avLst/>
          </a:prstGeom>
          <a:noFill/>
          <a:ln/>
        </p:spPr>
        <p:txBody>
          <a:bodyPr wrap="square" rtlCol="0" anchor="ctr"/>
          <a:lstStyle/>
          <a:p>
            <a:pPr indent="0" marL="0">
              <a:lnSpc>
                <a:spcPts val="2200"/>
              </a:lnSpc>
              <a:buNone/>
            </a:pPr>
            <a:r>
              <a:rPr lang="en-US" sz="1600" i="1" dirty="0">
                <a:solidFill>
                  <a:srgbClr val="1A1A1A"/>
                </a:solidFill>
                <a:latin typeface="Calibri" pitchFamily="34" charset="0"/>
                <a:ea typeface="Calibri" pitchFamily="34" charset="-122"/>
                <a:cs typeface="Calibri" pitchFamily="34" charset="-120"/>
              </a:rPr>
              <a:t>Demonstrated: the protected program runs on its own machine, and the same files are refused on a machine with a different security chip.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02920"/>
            <a:ext cx="10634472" cy="640080"/>
          </a:xfrm>
          <a:prstGeom prst="rect">
            <a:avLst/>
          </a:prstGeom>
          <a:noFill/>
          <a:ln/>
        </p:spPr>
        <p:txBody>
          <a:bodyPr wrap="square"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Homework 2 — results</a:t>
            </a:r>
            <a:endParaRPr lang="en-US" sz="3200" dirty="0"/>
          </a:p>
        </p:txBody>
      </p:sp>
      <p:sp>
        <p:nvSpPr>
          <p:cNvPr id="3" name="Text 1"/>
          <p:cNvSpPr txBox="1"/>
          <p:nvPr/>
        </p:nvSpPr>
        <p:spPr>
          <a:xfrm>
            <a:off x="777240" y="1554480"/>
            <a:ext cx="10634472" cy="2011680"/>
          </a:xfrm>
          <a:prstGeom prst="rect">
            <a:avLst/>
          </a:prstGeom>
          <a:noFill/>
          <a:ln/>
        </p:spPr>
        <p:txBody>
          <a:bodyPr wrap="square" rtlCol="0" anchor="ctr"/>
          <a:lstStyle/>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The real board now streams encrypted sensor data end to end, and still lands correctly in the dashboard</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The AI framework processes both the live stream and the stored history, controlled entirely by a config file</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The analysis programs run as compiled binaries whose output matches the source exactly</a:t>
            </a:r>
            <a:endParaRPr lang="en-US" sz="1700" dirty="0"/>
          </a:p>
          <a:p>
            <a:pPr marL="342900" indent="-342900">
              <a:lnSpc>
                <a:spcPts val="2400"/>
              </a:lnSpc>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Those binaries are locked to their machine by the TPM — a copied binary will not run anywhere else</a:t>
            </a:r>
            <a:endParaRPr lang="en-US" sz="1700" dirty="0"/>
          </a:p>
        </p:txBody>
      </p:sp>
      <p:sp>
        <p:nvSpPr>
          <p:cNvPr id="4" name="Shape 2"/>
          <p:cNvSpPr/>
          <p:nvPr/>
        </p:nvSpPr>
        <p:spPr>
          <a:xfrm>
            <a:off x="777240" y="4206240"/>
            <a:ext cx="10634472" cy="0"/>
          </a:xfrm>
          <a:prstGeom prst="line">
            <a:avLst/>
          </a:prstGeom>
          <a:noFill/>
          <a:ln w="12700">
            <a:solidFill>
              <a:srgbClr val="BFBFBF"/>
            </a:solidFill>
            <a:prstDash val="solid"/>
          </a:ln>
        </p:spPr>
      </p:sp>
      <p:sp>
        <p:nvSpPr>
          <p:cNvPr id="5" name="Text 3"/>
          <p:cNvSpPr txBox="1"/>
          <p:nvPr/>
        </p:nvSpPr>
        <p:spPr>
          <a:xfrm>
            <a:off x="777240" y="4434840"/>
            <a:ext cx="10634472" cy="731520"/>
          </a:xfrm>
          <a:prstGeom prst="rect">
            <a:avLst/>
          </a:prstGeom>
          <a:noFill/>
          <a:ln/>
        </p:spPr>
        <p:txBody>
          <a:bodyPr wrap="square" rtlCol="0" anchor="ctr"/>
          <a:lstStyle/>
          <a:p>
            <a:pPr indent="0" marL="0">
              <a:lnSpc>
                <a:spcPts val="2400"/>
              </a:lnSpc>
              <a:buNone/>
            </a:pPr>
            <a:r>
              <a:rPr lang="en-US" sz="1600" i="1" dirty="0">
                <a:solidFill>
                  <a:srgbClr val="1A1A1A"/>
                </a:solidFill>
                <a:latin typeface="Calibri" pitchFamily="34" charset="0"/>
                <a:ea typeface="Calibri" pitchFamily="34" charset="-122"/>
                <a:cs typeface="Calibri" pitchFamily="34" charset="-120"/>
              </a:rPr>
              <a:t>The system went from fully open to: encrypted in transit, configurable in processing, and protected at rest — without changing what it does.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2026-10-20T04:30:32Z</dcterms:created>
  <dcterms:modified xsi:type="dcterms:W3CDTF">2026-10-20T04:30:32Z</dcterms:modified>
</cp:coreProperties>
</file>